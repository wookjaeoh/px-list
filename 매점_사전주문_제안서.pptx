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9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운영 개선 제안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9418320" y="475488"/>
            <a:ext cx="1737360" cy="41148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475488"/>
            <a:ext cx="115824" cy="41148"/>
          </a:xfrm>
          <a:prstGeom prst="rect">
            <a:avLst/>
          </a:prstGeom>
          <a:solidFill>
            <a:srgbClr val="00754A"/>
          </a:solidFill>
          <a:ln w="12700">
            <a:solidFill>
              <a:srgbClr val="00754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05156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133856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제안서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6126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매점 사전주문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웹사이트 제안</a:t>
            </a:r>
            <a:endParaRPr lang="en-US" sz="3700" dirty="0"/>
          </a:p>
        </p:txBody>
      </p:sp>
      <p:sp>
        <p:nvSpPr>
          <p:cNvPr id="9" name="Text 7"/>
          <p:cNvSpPr/>
          <p:nvPr/>
        </p:nvSpPr>
        <p:spPr>
          <a:xfrm>
            <a:off x="621792" y="3273552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E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지각과 쉬는시간 혼잡을 줄이기 위한 학교 운영 개선안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60920" y="1133856"/>
            <a:ext cx="3520440" cy="4343400"/>
          </a:xfrm>
          <a:prstGeom prst="roundRect">
            <a:avLst>
              <a:gd name="adj" fmla="val 4675"/>
            </a:avLst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99248" y="151790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개요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726680" y="2276856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82712" y="21762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 쉬는시간 매점 이용으로 인한 수업 지각과 이동 혼잡 완화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726680" y="2862072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82712" y="27614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방식: 학생 사전주문, 매점 사전준비, 교사 운영 모니터링 구조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726680" y="3447288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82712" y="33467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성격: 학교 생활지도와 매점 운영 효율을 함께 개선하는 운영 시스템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DDE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매점 사전주문 웹사이트 제안 · 1/15</a:t>
            </a:r>
            <a:endParaRPr lang="en-US" sz="8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D4E9E2"/>
          </a:solidFill>
          <a:ln w="12700">
            <a:solidFill>
              <a:srgbClr val="D4E9E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운영 개선 제안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9418320" y="475488"/>
            <a:ext cx="1737360" cy="41148"/>
          </a:xfrm>
          <a:prstGeom prst="rect">
            <a:avLst/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475488"/>
            <a:ext cx="231648" cy="41148"/>
          </a:xfrm>
          <a:prstGeom prst="rect">
            <a:avLst/>
          </a:prstGeom>
          <a:solidFill>
            <a:srgbClr val="1E3932"/>
          </a:solidFill>
          <a:ln w="12700">
            <a:solidFill>
              <a:srgbClr val="1E393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987552"/>
            <a:ext cx="10927080" cy="5166360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12700">
            <a:solidFill>
              <a:srgbClr val="E5E7E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87552"/>
            <a:ext cx="164592" cy="5166360"/>
          </a:xfrm>
          <a:prstGeom prst="rect">
            <a:avLst/>
          </a:prstGeom>
          <a:solidFill>
            <a:srgbClr val="00754A"/>
          </a:solidFill>
          <a:ln w="12700">
            <a:solidFill>
              <a:srgbClr val="0075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984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166420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운영상 문제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41832" y="2432304"/>
            <a:ext cx="3520440" cy="2267712"/>
          </a:xfrm>
          <a:prstGeom prst="roundRect">
            <a:avLst>
              <a:gd name="adj" fmla="val 5645"/>
            </a:avLst>
          </a:prstGeom>
          <a:solidFill>
            <a:srgbClr val="D4E9E2"/>
          </a:solidFill>
          <a:ln w="12700">
            <a:solidFill>
              <a:srgbClr val="D4E9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761488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문제는 단순한 학생 편의 문제가 아니라 수업 시작과 안전관리의 문제입니다.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212080" y="1728216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68112" y="162763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쉬는시간에 학생들이 1층 매점으로 집중 이동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212080" y="2441448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234086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선택, 대기, 결제 과정에서 쉬는시간 내 복귀가 어려움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212080" y="3154680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8112" y="305409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수업 시작 지연, 복도 혼잡, 안전관리 부담 발생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212080" y="3867912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8112" y="376732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담임교사가 학생별 매점 이용 현황을 파악하기 어려움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D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매점 사전주문 웹사이트 제안 · 2/15</a:t>
            </a:r>
            <a:endParaRPr lang="en-US" sz="8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B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D4E9E2"/>
          </a:solidFill>
          <a:ln w="12700">
            <a:solidFill>
              <a:srgbClr val="D4E9E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운영 개선 제안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9418320" y="475488"/>
            <a:ext cx="1737360" cy="41148"/>
          </a:xfrm>
          <a:prstGeom prst="rect">
            <a:avLst/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475488"/>
            <a:ext cx="347472" cy="41148"/>
          </a:xfrm>
          <a:prstGeom prst="rect">
            <a:avLst/>
          </a:prstGeom>
          <a:solidFill>
            <a:srgbClr val="1E3932"/>
          </a:solidFill>
          <a:ln w="12700">
            <a:solidFill>
              <a:srgbClr val="1E393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987552"/>
            <a:ext cx="10927080" cy="5166360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12700">
            <a:solidFill>
              <a:srgbClr val="E5E7E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87552"/>
            <a:ext cx="164592" cy="5166360"/>
          </a:xfrm>
          <a:prstGeom prst="rect">
            <a:avLst/>
          </a:prstGeom>
          <a:solidFill>
            <a:srgbClr val="00754A"/>
          </a:solidFill>
          <a:ln w="12700">
            <a:solidFill>
              <a:srgbClr val="0075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984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166420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문제의 원인 분석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41832" y="2432304"/>
            <a:ext cx="3520440" cy="2267712"/>
          </a:xfrm>
          <a:prstGeom prst="roundRect">
            <a:avLst>
              <a:gd name="adj" fmla="val 5645"/>
            </a:avLst>
          </a:prstGeom>
          <a:solidFill>
            <a:srgbClr val="D4E9E2"/>
          </a:solidFill>
          <a:ln w="12700">
            <a:solidFill>
              <a:srgbClr val="D4E9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761488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집중형 매점 이용 절차를 사전 처리 구조로 분산해야 합니다.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212080" y="1728216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68112" y="162763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매점 이용 절차가 모두 현장에서 동시에 발생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212080" y="2441448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234086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이동 시간과 주문 대기 시간이 분리되지 않음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212080" y="3154680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8112" y="305409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매점주인은 주문 수요를 사전에 예측하기 어려움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212080" y="3867912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8112" y="376732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교사는 주문 가능 시간과 이용 현황을 통제할 수단이 부족함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D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매점 사전주문 웹사이트 제안 · 3/15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D4E9E2"/>
          </a:solidFill>
          <a:ln w="12700">
            <a:solidFill>
              <a:srgbClr val="D4E9E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운영 개선 제안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9418320" y="475488"/>
            <a:ext cx="1737360" cy="41148"/>
          </a:xfrm>
          <a:prstGeom prst="rect">
            <a:avLst/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475488"/>
            <a:ext cx="463296" cy="41148"/>
          </a:xfrm>
          <a:prstGeom prst="rect">
            <a:avLst/>
          </a:prstGeom>
          <a:solidFill>
            <a:srgbClr val="1E3932"/>
          </a:solidFill>
          <a:ln w="12700">
            <a:solidFill>
              <a:srgbClr val="1E393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987552"/>
            <a:ext cx="10927080" cy="5166360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12700">
            <a:solidFill>
              <a:srgbClr val="E5E7E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87552"/>
            <a:ext cx="164592" cy="5166360"/>
          </a:xfrm>
          <a:prstGeom prst="rect">
            <a:avLst/>
          </a:prstGeom>
          <a:solidFill>
            <a:srgbClr val="00754A"/>
          </a:solidFill>
          <a:ln w="12700">
            <a:solidFill>
              <a:srgbClr val="0075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984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166420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방향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41832" y="2432304"/>
            <a:ext cx="3520440" cy="2267712"/>
          </a:xfrm>
          <a:prstGeom prst="roundRect">
            <a:avLst>
              <a:gd name="adj" fmla="val 5645"/>
            </a:avLst>
          </a:prstGeom>
          <a:solidFill>
            <a:srgbClr val="D4E9E2"/>
          </a:solidFill>
          <a:ln w="12700">
            <a:solidFill>
              <a:srgbClr val="D4E9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761488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주문과 준비를 먼저 처리하고, 현장에서는 결제와 수령만 남깁니다.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212080" y="1728216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68112" y="162763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선택과 주문은 교실 또는 개인 기기에서 사전 처리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212080" y="2441448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234086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매점은 주문 목록을 미리 확인하여 상품을 준비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212080" y="3154680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8112" y="305409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결제와 수령은 매점에서 짧게 처리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212080" y="3867912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8112" y="376732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교사는 주문 가능 시간과 반별 이용 현황을 관리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D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매점 사전주문 웹사이트 제안 · 4/15</a:t>
            </a:r>
            <a:endParaRPr lang="en-US" sz="8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B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D4E9E2"/>
          </a:solidFill>
          <a:ln w="12700">
            <a:solidFill>
              <a:srgbClr val="D4E9E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운영 개선 제안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9418320" y="475488"/>
            <a:ext cx="1737360" cy="41148"/>
          </a:xfrm>
          <a:prstGeom prst="rect">
            <a:avLst/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475488"/>
            <a:ext cx="579120" cy="41148"/>
          </a:xfrm>
          <a:prstGeom prst="rect">
            <a:avLst/>
          </a:prstGeom>
          <a:solidFill>
            <a:srgbClr val="1E3932"/>
          </a:solidFill>
          <a:ln w="12700">
            <a:solidFill>
              <a:srgbClr val="1E393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987552"/>
            <a:ext cx="10927080" cy="5166360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12700">
            <a:solidFill>
              <a:srgbClr val="E5E7E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87552"/>
            <a:ext cx="164592" cy="5166360"/>
          </a:xfrm>
          <a:prstGeom prst="rect">
            <a:avLst/>
          </a:prstGeom>
          <a:solidFill>
            <a:srgbClr val="00754A"/>
          </a:solidFill>
          <a:ln w="12700">
            <a:solidFill>
              <a:srgbClr val="0075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984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166420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사용자별 역할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41832" y="2432304"/>
            <a:ext cx="3520440" cy="2267712"/>
          </a:xfrm>
          <a:prstGeom prst="roundRect">
            <a:avLst>
              <a:gd name="adj" fmla="val 5645"/>
            </a:avLst>
          </a:prstGeom>
          <a:solidFill>
            <a:srgbClr val="D4E9E2"/>
          </a:solidFill>
          <a:ln w="12700">
            <a:solidFill>
              <a:srgbClr val="D4E9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761488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역할을 명확히 나누면 책임 범위와 운영 흐름이 단순해집니다.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212080" y="1728216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68112" y="162763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학생: 상품 확인, 주문 제출, 수령 시 현장 결제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212080" y="2441448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234086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매점주인: 주문 목록 확인, 상품 준비, 수령 상태 처리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212080" y="3154680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8112" y="305409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담임교사: 본인 반 주문 현황 확인, 생활지도 자료 활용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212080" y="3867912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8112" y="376732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관리교사: 전체 운영 설정 및 계정 관리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D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매점 사전주문 웹사이트 제안 · 5/15</a:t>
            </a:r>
            <a:endParaRPr lang="en-US" sz="8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D4E9E2"/>
          </a:solidFill>
          <a:ln w="12700">
            <a:solidFill>
              <a:srgbClr val="D4E9E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운영 개선 제안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9418320" y="475488"/>
            <a:ext cx="1737360" cy="41148"/>
          </a:xfrm>
          <a:prstGeom prst="rect">
            <a:avLst/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475488"/>
            <a:ext cx="694944" cy="41148"/>
          </a:xfrm>
          <a:prstGeom prst="rect">
            <a:avLst/>
          </a:prstGeom>
          <a:solidFill>
            <a:srgbClr val="1E3932"/>
          </a:solidFill>
          <a:ln w="12700">
            <a:solidFill>
              <a:srgbClr val="1E393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987552"/>
            <a:ext cx="10927080" cy="5166360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12700">
            <a:solidFill>
              <a:srgbClr val="E5E7E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87552"/>
            <a:ext cx="164592" cy="5166360"/>
          </a:xfrm>
          <a:prstGeom prst="rect">
            <a:avLst/>
          </a:prstGeom>
          <a:solidFill>
            <a:srgbClr val="00754A"/>
          </a:solidFill>
          <a:ln w="12700">
            <a:solidFill>
              <a:srgbClr val="0075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984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166420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이용 절차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41832" y="2432304"/>
            <a:ext cx="3520440" cy="2267712"/>
          </a:xfrm>
          <a:prstGeom prst="roundRect">
            <a:avLst>
              <a:gd name="adj" fmla="val 5645"/>
            </a:avLst>
          </a:prstGeom>
          <a:solidFill>
            <a:srgbClr val="D4E9E2"/>
          </a:solidFill>
          <a:ln w="12700">
            <a:solidFill>
              <a:srgbClr val="D4E9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761488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화면은 주문 기능만 제공하여 사용 흐름을 단순화합니다.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212080" y="1728216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68112" y="162763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학번과 비밀번호로 로그인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5212080" y="2350008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224942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중인 상품만 확인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212080" y="2971800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8112" y="287121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전 최종 확인 후 제출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5212080" y="3593592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8112" y="349300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후 변경 및 취소 불가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5212080" y="4215384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8112" y="41148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매점에서 학번, 이름 또는 주문번호 확인 후 현장 결제 및 수령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D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매점 사전주문 웹사이트 제안 · 6/15</a:t>
            </a:r>
            <a:endParaRPr lang="en-US" sz="8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B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D4E9E2"/>
          </a:solidFill>
          <a:ln w="12700">
            <a:solidFill>
              <a:srgbClr val="D4E9E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운영 개선 제안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9418320" y="475488"/>
            <a:ext cx="1737360" cy="41148"/>
          </a:xfrm>
          <a:prstGeom prst="rect">
            <a:avLst/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475488"/>
            <a:ext cx="810768" cy="41148"/>
          </a:xfrm>
          <a:prstGeom prst="rect">
            <a:avLst/>
          </a:prstGeom>
          <a:solidFill>
            <a:srgbClr val="1E3932"/>
          </a:solidFill>
          <a:ln w="12700">
            <a:solidFill>
              <a:srgbClr val="1E393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987552"/>
            <a:ext cx="10927080" cy="5166360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12700">
            <a:solidFill>
              <a:srgbClr val="E5E7E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87552"/>
            <a:ext cx="164592" cy="5166360"/>
          </a:xfrm>
          <a:prstGeom prst="rect">
            <a:avLst/>
          </a:prstGeom>
          <a:solidFill>
            <a:srgbClr val="00754A"/>
          </a:solidFill>
          <a:ln w="12700">
            <a:solidFill>
              <a:srgbClr val="0075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984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166420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매점주인 관리 절차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41832" y="2432304"/>
            <a:ext cx="3520440" cy="2267712"/>
          </a:xfrm>
          <a:prstGeom prst="roundRect">
            <a:avLst>
              <a:gd name="adj" fmla="val 5645"/>
            </a:avLst>
          </a:prstGeom>
          <a:solidFill>
            <a:srgbClr val="D4E9E2"/>
          </a:solidFill>
          <a:ln w="12700">
            <a:solidFill>
              <a:srgbClr val="D4E9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761488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매점주인은 시간순 주문 목록을 기준으로 준비 효율을 높입니다.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212080" y="1728216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68112" y="162763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화면과 분리된 별도 주소로 접속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5212080" y="2350008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224942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시간순 목록 확인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212080" y="2971800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8112" y="287121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주문자 학번, 이름, 상품명, 수량, 금액 확인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5212080" y="3593592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8112" y="349300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상태를 접수, 준비완료, 수령완료로 관리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5212080" y="4215384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8112" y="41148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상품명, 가격, 판매여부 관리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D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매점 사전주문 웹사이트 제안 · 7/15</a:t>
            </a:r>
            <a:endParaRPr lang="en-US" sz="8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D4E9E2"/>
          </a:solidFill>
          <a:ln w="12700">
            <a:solidFill>
              <a:srgbClr val="D4E9E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운영 개선 제안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9418320" y="475488"/>
            <a:ext cx="1737360" cy="41148"/>
          </a:xfrm>
          <a:prstGeom prst="rect">
            <a:avLst/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475488"/>
            <a:ext cx="926592" cy="41148"/>
          </a:xfrm>
          <a:prstGeom prst="rect">
            <a:avLst/>
          </a:prstGeom>
          <a:solidFill>
            <a:srgbClr val="1E3932"/>
          </a:solidFill>
          <a:ln w="12700">
            <a:solidFill>
              <a:srgbClr val="1E393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987552"/>
            <a:ext cx="10927080" cy="5166360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12700">
            <a:solidFill>
              <a:srgbClr val="E5E7E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87552"/>
            <a:ext cx="164592" cy="5166360"/>
          </a:xfrm>
          <a:prstGeom prst="rect">
            <a:avLst/>
          </a:prstGeom>
          <a:solidFill>
            <a:srgbClr val="00754A"/>
          </a:solidFill>
          <a:ln w="12700">
            <a:solidFill>
              <a:srgbClr val="0075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984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166420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 관리 절차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41832" y="2432304"/>
            <a:ext cx="3520440" cy="2267712"/>
          </a:xfrm>
          <a:prstGeom prst="roundRect">
            <a:avLst>
              <a:gd name="adj" fmla="val 5645"/>
            </a:avLst>
          </a:prstGeom>
          <a:solidFill>
            <a:srgbClr val="D4E9E2"/>
          </a:solidFill>
          <a:ln w="12700">
            <a:solidFill>
              <a:srgbClr val="D4E9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761488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교사는 주문 가능 시간과 반별 현황을 관리합니다.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212080" y="1728216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68112" y="162763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화면과 분리된 별도 주소로 접속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5212080" y="2350008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224942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가능 시간을 열고 닫음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212080" y="2971800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8112" y="287121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반 주문 현황 모니터링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5212080" y="3593592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8112" y="349300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학생별 주문 횟수, 주문 금액, 선호 상품 등 통계 확인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5212080" y="4215384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8112" y="41148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시 생활지도와 학급 운영 자료로 활용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D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매점 사전주문 웹사이트 제안 · 8/15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B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D4E9E2"/>
          </a:solidFill>
          <a:ln w="12700">
            <a:solidFill>
              <a:srgbClr val="D4E9E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운영 개선 제안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9418320" y="475488"/>
            <a:ext cx="1737360" cy="41148"/>
          </a:xfrm>
          <a:prstGeom prst="rect">
            <a:avLst/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475488"/>
            <a:ext cx="1042416" cy="41148"/>
          </a:xfrm>
          <a:prstGeom prst="rect">
            <a:avLst/>
          </a:prstGeom>
          <a:solidFill>
            <a:srgbClr val="1E3932"/>
          </a:solidFill>
          <a:ln w="12700">
            <a:solidFill>
              <a:srgbClr val="1E393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987552"/>
            <a:ext cx="10927080" cy="5166360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12700">
            <a:solidFill>
              <a:srgbClr val="E5E7E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87552"/>
            <a:ext cx="164592" cy="5166360"/>
          </a:xfrm>
          <a:prstGeom prst="rect">
            <a:avLst/>
          </a:prstGeom>
          <a:solidFill>
            <a:srgbClr val="1E3932"/>
          </a:solidFill>
          <a:ln w="12700">
            <a:solidFill>
              <a:srgbClr val="1E393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984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166420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분리와 접근 통제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41832" y="2432304"/>
            <a:ext cx="3520440" cy="2267712"/>
          </a:xfrm>
          <a:prstGeom prst="roundRect">
            <a:avLst>
              <a:gd name="adj" fmla="val 5645"/>
            </a:avLst>
          </a:prstGeom>
          <a:solidFill>
            <a:srgbClr val="D4E9E2"/>
          </a:solidFill>
          <a:ln w="12700">
            <a:solidFill>
              <a:srgbClr val="D4E9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761488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주소와 권한을 분리해 학생에게 관리자 기능이 노출되지 않게 합니다.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212080" y="1728216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68112" y="162763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화면에는 교사와 매점주인 기능 미노출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5212080" y="2350008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224942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주소, 매점주인 주소, 교사 주소를 분리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212080" y="2971800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8112" y="287121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학생은 본인 주문만 조회 가능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5212080" y="3593592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8112" y="349300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매점주인은 주문 처리에 필요한 정보만 확인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5212080" y="4215384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8112" y="41148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교사는 본인 반 중심으로 현황 확인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D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매점 사전주문 웹사이트 제안 · 9/15</a:t>
            </a:r>
            <a:endParaRPr lang="en-US" sz="8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D4E9E2"/>
          </a:solidFill>
          <a:ln w="12700">
            <a:solidFill>
              <a:srgbClr val="D4E9E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운영 개선 제안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9418320" y="475488"/>
            <a:ext cx="1737360" cy="41148"/>
          </a:xfrm>
          <a:prstGeom prst="rect">
            <a:avLst/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475488"/>
            <a:ext cx="1158240" cy="41148"/>
          </a:xfrm>
          <a:prstGeom prst="rect">
            <a:avLst/>
          </a:prstGeom>
          <a:solidFill>
            <a:srgbClr val="1E3932"/>
          </a:solidFill>
          <a:ln w="12700">
            <a:solidFill>
              <a:srgbClr val="1E393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987552"/>
            <a:ext cx="10927080" cy="5166360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12700">
            <a:solidFill>
              <a:srgbClr val="E5E7E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87552"/>
            <a:ext cx="164592" cy="5166360"/>
          </a:xfrm>
          <a:prstGeom prst="rect">
            <a:avLst/>
          </a:prstGeom>
          <a:solidFill>
            <a:srgbClr val="1E3932"/>
          </a:solidFill>
          <a:ln w="12700">
            <a:solidFill>
              <a:srgbClr val="1E393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984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166420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관리 원칙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41832" y="2432304"/>
            <a:ext cx="3520440" cy="2267712"/>
          </a:xfrm>
          <a:prstGeom prst="roundRect">
            <a:avLst>
              <a:gd name="adj" fmla="val 5645"/>
            </a:avLst>
          </a:prstGeom>
          <a:solidFill>
            <a:srgbClr val="D4E9E2"/>
          </a:solidFill>
          <a:ln w="12700">
            <a:solidFill>
              <a:srgbClr val="D4E9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761488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정보 표시와 권한 제한을 기본 원칙으로 삼습니다.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212080" y="1728216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68112" y="162763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계정은 교사가 일괄 생성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5212080" y="2350008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224942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로그인은 학번과 비밀번호 기반으로 운영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212080" y="2971800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8112" y="287121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비밀번호는 평문 저장 금지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5212080" y="3593592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8112" y="349300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목록에는 업무상 필요한 학번과 이름 중심으로 표시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5212080" y="4215384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8112" y="41148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권한별 접근 범위를 명확히 제한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D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매점 사전주문 웹사이트 제안 · 10/15</a:t>
            </a:r>
            <a:endParaRPr lang="en-US" sz="8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B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D4E9E2"/>
          </a:solidFill>
          <a:ln w="12700">
            <a:solidFill>
              <a:srgbClr val="D4E9E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운영 개선 제안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9418320" y="475488"/>
            <a:ext cx="1737360" cy="41148"/>
          </a:xfrm>
          <a:prstGeom prst="rect">
            <a:avLst/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475488"/>
            <a:ext cx="1274064" cy="41148"/>
          </a:xfrm>
          <a:prstGeom prst="rect">
            <a:avLst/>
          </a:prstGeom>
          <a:solidFill>
            <a:srgbClr val="1E3932"/>
          </a:solidFill>
          <a:ln w="12700">
            <a:solidFill>
              <a:srgbClr val="1E393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987552"/>
            <a:ext cx="10927080" cy="5166360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12700">
            <a:solidFill>
              <a:srgbClr val="E5E7E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87552"/>
            <a:ext cx="164592" cy="5166360"/>
          </a:xfrm>
          <a:prstGeom prst="rect">
            <a:avLst/>
          </a:prstGeom>
          <a:solidFill>
            <a:srgbClr val="1E3932"/>
          </a:solidFill>
          <a:ln w="12700">
            <a:solidFill>
              <a:srgbClr val="1E393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984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166420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정책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41832" y="2432304"/>
            <a:ext cx="3520440" cy="2267712"/>
          </a:xfrm>
          <a:prstGeom prst="roundRect">
            <a:avLst>
              <a:gd name="adj" fmla="val 5645"/>
            </a:avLst>
          </a:prstGeom>
          <a:solidFill>
            <a:srgbClr val="D4E9E2"/>
          </a:solidFill>
          <a:ln w="12700">
            <a:solidFill>
              <a:srgbClr val="D4E9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761488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버전은 복잡한 결제·재고보다 운영 안정성에 집중합니다.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212080" y="1728216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68112" y="162763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결제는 온라인 결제가 아닌 매점 현장 결제로 시작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5212080" y="2350008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224942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후 취소 불가 원칙 적용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212080" y="2971800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8112" y="287121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교사가 주문 가능 시간을 통제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5212080" y="3593592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8112" y="349300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미수령 주문은 별도 확인 및 통계화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5212080" y="4215384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8112" y="41148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초기에는 재고 관리보다 상품명, 가격, 판매여부 관리에 집중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D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매점 사전주문 웹사이트 제안 · 11/15</a:t>
            </a:r>
            <a:endParaRPr lang="en-US" sz="8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D4E9E2"/>
          </a:solidFill>
          <a:ln w="12700">
            <a:solidFill>
              <a:srgbClr val="D4E9E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운영 개선 제안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9418320" y="475488"/>
            <a:ext cx="1737360" cy="41148"/>
          </a:xfrm>
          <a:prstGeom prst="rect">
            <a:avLst/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475488"/>
            <a:ext cx="1389888" cy="41148"/>
          </a:xfrm>
          <a:prstGeom prst="rect">
            <a:avLst/>
          </a:prstGeom>
          <a:solidFill>
            <a:srgbClr val="1E3932"/>
          </a:solidFill>
          <a:ln w="12700">
            <a:solidFill>
              <a:srgbClr val="1E393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987552"/>
            <a:ext cx="10927080" cy="5166360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12700">
            <a:solidFill>
              <a:srgbClr val="E5E7E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87552"/>
            <a:ext cx="164592" cy="5166360"/>
          </a:xfrm>
          <a:prstGeom prst="rect">
            <a:avLst/>
          </a:prstGeom>
          <a:solidFill>
            <a:srgbClr val="1E3932"/>
          </a:solidFill>
          <a:ln w="12700">
            <a:solidFill>
              <a:srgbClr val="1E393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984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166420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41832" y="2432304"/>
            <a:ext cx="3520440" cy="2267712"/>
          </a:xfrm>
          <a:prstGeom prst="roundRect">
            <a:avLst>
              <a:gd name="adj" fmla="val 5645"/>
            </a:avLst>
          </a:prstGeom>
          <a:solidFill>
            <a:srgbClr val="D4E9E2"/>
          </a:solidFill>
          <a:ln w="12700">
            <a:solidFill>
              <a:srgbClr val="D4E9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761488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가능한 효과는 시간 절감, 지각 감소, 혼잡 완화입니다.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212080" y="1728216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68112" y="162763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학생의 매점 체류 시간 감소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5212080" y="2350008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224942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시작 지연 감소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212080" y="2971800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8112" y="287121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쉬는시간 복도 및 매점 혼잡 완화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5212080" y="3593592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8112" y="349300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매점의 사전 준비 가능으로 운영 효율 향상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5212080" y="4215384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8112" y="41148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교사의 학급별 이용 현황 파악 가능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D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매점 사전주문 웹사이트 제안 · 12/15</a:t>
            </a:r>
            <a:endParaRPr lang="en-US" sz="8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EB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D4E9E2"/>
          </a:solidFill>
          <a:ln w="12700">
            <a:solidFill>
              <a:srgbClr val="D4E9E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운영 개선 제안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9418320" y="475488"/>
            <a:ext cx="1737360" cy="41148"/>
          </a:xfrm>
          <a:prstGeom prst="rect">
            <a:avLst/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475488"/>
            <a:ext cx="1505712" cy="41148"/>
          </a:xfrm>
          <a:prstGeom prst="rect">
            <a:avLst/>
          </a:prstGeom>
          <a:solidFill>
            <a:srgbClr val="1E3932"/>
          </a:solidFill>
          <a:ln w="12700">
            <a:solidFill>
              <a:srgbClr val="1E393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987552"/>
            <a:ext cx="10927080" cy="5166360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12700">
            <a:solidFill>
              <a:srgbClr val="E5E7E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87552"/>
            <a:ext cx="164592" cy="5166360"/>
          </a:xfrm>
          <a:prstGeom prst="rect">
            <a:avLst/>
          </a:prstGeom>
          <a:solidFill>
            <a:srgbClr val="1E3932"/>
          </a:solidFill>
          <a:ln w="12700">
            <a:solidFill>
              <a:srgbClr val="1E393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984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166420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시범 운영 계획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41832" y="2432304"/>
            <a:ext cx="3520440" cy="2267712"/>
          </a:xfrm>
          <a:prstGeom prst="roundRect">
            <a:avLst>
              <a:gd name="adj" fmla="val 5645"/>
            </a:avLst>
          </a:prstGeom>
          <a:solidFill>
            <a:srgbClr val="D4E9E2"/>
          </a:solidFill>
          <a:ln w="12700">
            <a:solidFill>
              <a:srgbClr val="D4E9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761488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시범 운영으로 효과를 검증한 뒤 확대 여부를 결정합니다.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212080" y="1728216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68112" y="162763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1단계: 한 학급 또는 한 학년 대상 시범 운영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212080" y="2441448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234086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2단계: 쉬는시간별 주문량, 수령 시간, 미수령 사례 측정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212080" y="3154680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8112" y="305409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3단계: 학생, 교사, 매점주인 의견 수렴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212080" y="3867912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8112" y="376732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4단계: 운영 정책 보완 후 확대 적용 검토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D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매점 사전주문 웹사이트 제안 · 13/15</a:t>
            </a:r>
            <a:endParaRPr lang="en-US" sz="8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D4E9E2"/>
          </a:solidFill>
          <a:ln w="12700">
            <a:solidFill>
              <a:srgbClr val="D4E9E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운영 개선 제안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9418320" y="475488"/>
            <a:ext cx="1737360" cy="41148"/>
          </a:xfrm>
          <a:prstGeom prst="rect">
            <a:avLst/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475488"/>
            <a:ext cx="1621536" cy="41148"/>
          </a:xfrm>
          <a:prstGeom prst="rect">
            <a:avLst/>
          </a:prstGeom>
          <a:solidFill>
            <a:srgbClr val="1E3932"/>
          </a:solidFill>
          <a:ln w="12700">
            <a:solidFill>
              <a:srgbClr val="1E393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987552"/>
            <a:ext cx="10927080" cy="5166360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12700">
            <a:solidFill>
              <a:srgbClr val="E5E7E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87552"/>
            <a:ext cx="164592" cy="5166360"/>
          </a:xfrm>
          <a:prstGeom prst="rect">
            <a:avLst/>
          </a:prstGeom>
          <a:solidFill>
            <a:srgbClr val="1E3932"/>
          </a:solidFill>
          <a:ln w="12700">
            <a:solidFill>
              <a:srgbClr val="1E393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984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166420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검토해야 할 운영 기준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41832" y="2432304"/>
            <a:ext cx="3520440" cy="2267712"/>
          </a:xfrm>
          <a:prstGeom prst="roundRect">
            <a:avLst>
              <a:gd name="adj" fmla="val 5645"/>
            </a:avLst>
          </a:prstGeom>
          <a:solidFill>
            <a:srgbClr val="D4E9E2"/>
          </a:solidFill>
          <a:ln w="12700">
            <a:solidFill>
              <a:srgbClr val="D4E9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761488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E39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전 기준을 정해야 운영 혼선을 줄일 수 있습니다.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212080" y="1728216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68112" y="162763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가능 시간 설정 기준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5212080" y="2350008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224942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미수령 주문 처리 방식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212080" y="2971800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8112" y="287121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계정 생성 및 비밀번호 재설정 절차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5212080" y="3593592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8112" y="349300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담임교사와 관리교사의 권한 범위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5212080" y="4215384"/>
            <a:ext cx="100584" cy="100584"/>
          </a:xfrm>
          <a:prstGeom prst="ellipse">
            <a:avLst/>
          </a:prstGeom>
          <a:solidFill>
            <a:srgbClr val="00754A"/>
          </a:solidFill>
          <a:ln w="12700">
            <a:solidFill>
              <a:srgbClr val="0075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8112" y="41148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시범 운영 후 확대 여부 판단 기준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D6B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매점 사전주문 웹사이트 제안 · 14/15</a:t>
            </a:r>
            <a:endParaRPr lang="en-US" sz="8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9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운영 개선 제안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9418320" y="475488"/>
            <a:ext cx="1737360" cy="41148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475488"/>
            <a:ext cx="1737360" cy="41148"/>
          </a:xfrm>
          <a:prstGeom prst="rect">
            <a:avLst/>
          </a:prstGeom>
          <a:solidFill>
            <a:srgbClr val="00754A"/>
          </a:solidFill>
          <a:ln w="12700">
            <a:solidFill>
              <a:srgbClr val="00754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33856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제안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190195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제한된 범위의 시범 운영으로 효과와 리스크를 검증한 뒤 확대 여부를 판단합니다.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13232" y="2743200"/>
            <a:ext cx="8412480" cy="493776"/>
          </a:xfrm>
          <a:prstGeom prst="roundRect">
            <a:avLst>
              <a:gd name="adj" fmla="val 1851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871216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A2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28437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전면 도입보다 제한된 범위의 시범 운영을 제안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3232" y="3429000"/>
            <a:ext cx="8412480" cy="493776"/>
          </a:xfrm>
          <a:prstGeom prst="roundRect">
            <a:avLst>
              <a:gd name="adj" fmla="val 1851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557016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A2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25880" y="35295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도입보다 생활지도와 학교 운영 개선 관점에서 접근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3232" y="4114800"/>
            <a:ext cx="8412480" cy="493776"/>
          </a:xfrm>
          <a:prstGeom prst="roundRect">
            <a:avLst>
              <a:gd name="adj" fmla="val 1851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242816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A2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25880" y="42153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관리자, 교사, 매점주인의 역할을 분리하여 책임 범위 명확화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3232" y="4800600"/>
            <a:ext cx="8412480" cy="493776"/>
          </a:xfrm>
          <a:prstGeom prst="roundRect">
            <a:avLst>
              <a:gd name="adj" fmla="val 1851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4928616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A2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25880" y="4901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데이터 확인 후 학교 전체 적용 여부 결정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DDE8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매점 사전주문 웹사이트 제안 · 15/15</a:t>
            </a:r>
            <a:endParaRPr lang="en-US" sz="8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School Canteen Preorder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매점 사전주문 웹사이트 제안</dc:title>
  <dc:subject>매점 사전주문 웹사이트 제안</dc:subject>
  <dc:creator>px-list</dc:creator>
  <cp:lastModifiedBy>px-list</cp:lastModifiedBy>
  <cp:revision>1</cp:revision>
  <dcterms:created xsi:type="dcterms:W3CDTF">2026-05-16T12:37:16Z</dcterms:created>
  <dcterms:modified xsi:type="dcterms:W3CDTF">2026-05-16T12:37:16Z</dcterms:modified>
</cp:coreProperties>
</file>